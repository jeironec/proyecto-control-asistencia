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Nuni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Nuni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.fntdata"/><Relationship Id="rId6" Type="http://schemas.openxmlformats.org/officeDocument/2006/relationships/slide" Target="slides/slide1.xml"/><Relationship Id="rId18" Type="http://schemas.openxmlformats.org/officeDocument/2006/relationships/font" Target="fonts/Nuni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a71ae3fe1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a71ae3fe1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a71ae3fe1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a71ae3fe1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MARK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f17d2569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f17d2569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a71ae3fe1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a71ae3fe1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MARK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ee6c30ad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ee6c30ad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MARK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a71ae3fe1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a71ae3fe1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MARK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71ae3fe1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a71ae3fe1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JEIRON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a71ae3fe1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a71ae3fe1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JEIRON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a71ae3fe1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a71ae3fe1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DAVID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a71ae3fe1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a71ae3fe1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DAVID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a71ae3fe1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aa71ae3fe1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google.com/document/d/1DSUjTAFyDx9FgCFOV_eBBEjC0X6yBMwFY9b4IPc4pvY/edit?tab=t.0#heading=h.wt145x9b5rg5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91353" y="1182958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CONTROL DE ASISTENCIA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579050" y="2797175"/>
            <a:ext cx="5985900" cy="3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David Cordoba, Jeiron Espinal, Mark Timblau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ÍNDICE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1571999" y="2067075"/>
            <a:ext cx="3000000" cy="14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ca"/>
              <a:t>O</a:t>
            </a:r>
            <a:r>
              <a:rPr lang="ca"/>
              <a:t>bjetivo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ca"/>
              <a:t>Infraestructura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ca"/>
              <a:t>F</a:t>
            </a:r>
            <a:r>
              <a:rPr lang="ca"/>
              <a:t>ront end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ca"/>
              <a:t>Back end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4943850" y="2067075"/>
            <a:ext cx="3000000" cy="1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ca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ca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ca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iseño del arduino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ca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Funcionamiento del arduino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ca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Conclusión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OBJETIVO</a:t>
            </a:r>
            <a:endParaRPr/>
          </a:p>
        </p:txBody>
      </p:sp>
      <p:pic>
        <p:nvPicPr>
          <p:cNvPr id="142" name="Google Shape;14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7032" y="1458582"/>
            <a:ext cx="3276625" cy="32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INFRAESTRUCTURA</a:t>
            </a:r>
            <a:endParaRPr/>
          </a:p>
        </p:txBody>
      </p:sp>
      <p:sp>
        <p:nvSpPr>
          <p:cNvPr id="148" name="Google Shape;148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1050" y="2143725"/>
            <a:ext cx="7381875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FRONT END</a:t>
            </a:r>
            <a:endParaRPr/>
          </a:p>
        </p:txBody>
      </p:sp>
      <p:sp>
        <p:nvSpPr>
          <p:cNvPr id="155" name="Google Shape;155;p17"/>
          <p:cNvSpPr txBox="1"/>
          <p:nvPr>
            <p:ph idx="1" type="body"/>
          </p:nvPr>
        </p:nvSpPr>
        <p:spPr>
          <a:xfrm>
            <a:off x="3547188" y="4378150"/>
            <a:ext cx="2049600" cy="288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ca"/>
              <a:t>DIAGRAMA USO</a:t>
            </a:r>
            <a:endParaRPr/>
          </a:p>
        </p:txBody>
      </p:sp>
      <p:pic>
        <p:nvPicPr>
          <p:cNvPr id="156" name="Google Shape;156;p17" title="Diagrama uso proyecto1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7375" y="1419975"/>
            <a:ext cx="3949249" cy="288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FRONT END</a:t>
            </a:r>
            <a:endParaRPr/>
          </a:p>
        </p:txBody>
      </p:sp>
      <p:pic>
        <p:nvPicPr>
          <p:cNvPr id="162" name="Google Shape;162;p18" title="Diagrama_funcionamiento_pagina_web_proyecto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9150" y="1389325"/>
            <a:ext cx="5219000" cy="340672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>
            <p:ph idx="1" type="body"/>
          </p:nvPr>
        </p:nvSpPr>
        <p:spPr>
          <a:xfrm>
            <a:off x="3547199" y="4375060"/>
            <a:ext cx="2049600" cy="288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ca"/>
              <a:t>DIAGRAMA FLUJO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FRONT END</a:t>
            </a:r>
            <a:endParaRPr/>
          </a:p>
        </p:txBody>
      </p:sp>
      <p:pic>
        <p:nvPicPr>
          <p:cNvPr id="169" name="Google Shape;16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850" y="2382525"/>
            <a:ext cx="2124600" cy="10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7350" y="525075"/>
            <a:ext cx="1858450" cy="422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3625" y="1417775"/>
            <a:ext cx="3976751" cy="34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BACK END</a:t>
            </a:r>
            <a:endParaRPr/>
          </a:p>
        </p:txBody>
      </p:sp>
      <p:pic>
        <p:nvPicPr>
          <p:cNvPr id="177" name="Google Shape;177;p20" title="Captura desde 2025-12-08 23-34-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6150" y="2346572"/>
            <a:ext cx="6471699" cy="173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BASE DE DATOS</a:t>
            </a:r>
            <a:endParaRPr/>
          </a:p>
        </p:txBody>
      </p:sp>
      <p:pic>
        <p:nvPicPr>
          <p:cNvPr id="183" name="Google Shape;183;p21" title="Diagrama_Relacional.drawio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8475" y="1437725"/>
            <a:ext cx="5567049" cy="334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DISEÑO DEL ARDUINO</a:t>
            </a:r>
            <a:endParaRPr/>
          </a:p>
        </p:txBody>
      </p:sp>
      <p:pic>
        <p:nvPicPr>
          <p:cNvPr id="189" name="Google Shape;189;p22"/>
          <p:cNvPicPr preferRelativeResize="0"/>
          <p:nvPr/>
        </p:nvPicPr>
        <p:blipFill rotWithShape="1">
          <a:blip r:embed="rId3">
            <a:alphaModFix/>
          </a:blip>
          <a:srcRect b="0" l="12128" r="15112" t="32813"/>
          <a:stretch/>
        </p:blipFill>
        <p:spPr>
          <a:xfrm>
            <a:off x="2486025" y="1771675"/>
            <a:ext cx="4171950" cy="28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FUNCIONAMIENTO DEL ARDUINO</a:t>
            </a:r>
            <a:endParaRPr/>
          </a:p>
        </p:txBody>
      </p:sp>
      <p:sp>
        <p:nvSpPr>
          <p:cNvPr id="195" name="Google Shape;195;p23"/>
          <p:cNvSpPr/>
          <p:nvPr/>
        </p:nvSpPr>
        <p:spPr>
          <a:xfrm>
            <a:off x="2505900" y="2913363"/>
            <a:ext cx="1385400" cy="673800"/>
          </a:xfrm>
          <a:prstGeom prst="rect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ca">
                <a:latin typeface="Calibri"/>
                <a:ea typeface="Calibri"/>
                <a:cs typeface="Calibri"/>
                <a:sym typeface="Calibri"/>
              </a:rPr>
              <a:t>mein.ino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3"/>
          <p:cNvSpPr/>
          <p:nvPr/>
        </p:nvSpPr>
        <p:spPr>
          <a:xfrm>
            <a:off x="5063063" y="1655463"/>
            <a:ext cx="1385400" cy="6738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286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ca">
                <a:latin typeface="Calibri"/>
                <a:ea typeface="Calibri"/>
                <a:cs typeface="Calibri"/>
                <a:sym typeface="Calibri"/>
              </a:rPr>
              <a:t>mfrc522.</a:t>
            </a:r>
            <a:r>
              <a:rPr lang="ca"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3"/>
              </a:rPr>
              <a:t>ino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3"/>
          <p:cNvSpPr/>
          <p:nvPr/>
        </p:nvSpPr>
        <p:spPr>
          <a:xfrm>
            <a:off x="5063063" y="2913363"/>
            <a:ext cx="1385400" cy="6738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286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ca">
                <a:latin typeface="Calibri"/>
                <a:ea typeface="Calibri"/>
                <a:cs typeface="Calibri"/>
                <a:sym typeface="Calibri"/>
              </a:rPr>
              <a:t>AWS-loT.ino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3"/>
          <p:cNvSpPr/>
          <p:nvPr/>
        </p:nvSpPr>
        <p:spPr>
          <a:xfrm>
            <a:off x="489638" y="2913363"/>
            <a:ext cx="1385400" cy="6738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Calibri"/>
                <a:ea typeface="Calibri"/>
                <a:cs typeface="Calibri"/>
                <a:sym typeface="Calibri"/>
              </a:rPr>
              <a:t>secrets.h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2505913" y="3910188"/>
            <a:ext cx="1385400" cy="6738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Calibri"/>
                <a:ea typeface="Calibri"/>
                <a:cs typeface="Calibri"/>
                <a:sym typeface="Calibri"/>
              </a:rPr>
              <a:t>time_utils.ino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5063063" y="3910188"/>
            <a:ext cx="1385400" cy="673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Calibri"/>
                <a:ea typeface="Calibri"/>
                <a:cs typeface="Calibri"/>
                <a:sym typeface="Calibri"/>
              </a:rPr>
              <a:t>users.cpp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2505913" y="1655463"/>
            <a:ext cx="1385400" cy="6738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Calibri"/>
                <a:ea typeface="Calibri"/>
                <a:cs typeface="Calibri"/>
                <a:sym typeface="Calibri"/>
              </a:rPr>
              <a:t>wifi.ino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7268963" y="3910188"/>
            <a:ext cx="1385400" cy="673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Calibri"/>
                <a:ea typeface="Calibri"/>
                <a:cs typeface="Calibri"/>
                <a:sym typeface="Calibri"/>
              </a:rPr>
              <a:t>users.h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23"/>
          <p:cNvCxnSpPr>
            <a:stCxn id="197" idx="1"/>
            <a:endCxn id="195" idx="3"/>
          </p:cNvCxnSpPr>
          <p:nvPr/>
        </p:nvCxnSpPr>
        <p:spPr>
          <a:xfrm rot="10800000">
            <a:off x="3891263" y="3250263"/>
            <a:ext cx="117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23"/>
          <p:cNvCxnSpPr>
            <a:stCxn id="196" idx="1"/>
            <a:endCxn id="195" idx="3"/>
          </p:cNvCxnSpPr>
          <p:nvPr/>
        </p:nvCxnSpPr>
        <p:spPr>
          <a:xfrm flipH="1">
            <a:off x="3891263" y="1992363"/>
            <a:ext cx="1171800" cy="125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" name="Google Shape;205;p23"/>
          <p:cNvCxnSpPr>
            <a:stCxn id="196" idx="2"/>
            <a:endCxn id="197" idx="0"/>
          </p:cNvCxnSpPr>
          <p:nvPr/>
        </p:nvCxnSpPr>
        <p:spPr>
          <a:xfrm>
            <a:off x="5755763" y="2329263"/>
            <a:ext cx="0" cy="58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6" name="Google Shape;206;p23"/>
          <p:cNvCxnSpPr>
            <a:stCxn id="200" idx="3"/>
            <a:endCxn id="202" idx="1"/>
          </p:cNvCxnSpPr>
          <p:nvPr/>
        </p:nvCxnSpPr>
        <p:spPr>
          <a:xfrm>
            <a:off x="6448463" y="4247088"/>
            <a:ext cx="820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7" name="Google Shape;207;p23"/>
          <p:cNvCxnSpPr>
            <a:stCxn id="195" idx="2"/>
            <a:endCxn id="199" idx="0"/>
          </p:cNvCxnSpPr>
          <p:nvPr/>
        </p:nvCxnSpPr>
        <p:spPr>
          <a:xfrm>
            <a:off x="3198600" y="3587163"/>
            <a:ext cx="0" cy="32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8" name="Google Shape;208;p23"/>
          <p:cNvCxnSpPr>
            <a:stCxn id="198" idx="3"/>
            <a:endCxn id="195" idx="1"/>
          </p:cNvCxnSpPr>
          <p:nvPr/>
        </p:nvCxnSpPr>
        <p:spPr>
          <a:xfrm>
            <a:off x="1875038" y="3250263"/>
            <a:ext cx="630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" name="Google Shape;209;p23"/>
          <p:cNvCxnSpPr>
            <a:stCxn id="201" idx="2"/>
            <a:endCxn id="195" idx="0"/>
          </p:cNvCxnSpPr>
          <p:nvPr/>
        </p:nvCxnSpPr>
        <p:spPr>
          <a:xfrm>
            <a:off x="3198613" y="2329263"/>
            <a:ext cx="0" cy="58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" name="Google Shape;210;p23"/>
          <p:cNvSpPr txBox="1"/>
          <p:nvPr/>
        </p:nvSpPr>
        <p:spPr>
          <a:xfrm>
            <a:off x="6448463" y="4247100"/>
            <a:ext cx="103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Estructura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 txBox="1"/>
          <p:nvPr/>
        </p:nvSpPr>
        <p:spPr>
          <a:xfrm>
            <a:off x="5805313" y="2387400"/>
            <a:ext cx="132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getUserFromTag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 txBox="1"/>
          <p:nvPr/>
        </p:nvSpPr>
        <p:spPr>
          <a:xfrm>
            <a:off x="5755763" y="3587175"/>
            <a:ext cx="1632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evaluateAttendance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 txBox="1"/>
          <p:nvPr/>
        </p:nvSpPr>
        <p:spPr>
          <a:xfrm rot="-2894447">
            <a:off x="3947295" y="2459743"/>
            <a:ext cx="1260808" cy="3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leerTarjeta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 txBox="1"/>
          <p:nvPr/>
        </p:nvSpPr>
        <p:spPr>
          <a:xfrm rot="-2883811">
            <a:off x="3661254" y="2094708"/>
            <a:ext cx="1385293" cy="37941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feedbackLectura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 txBox="1"/>
          <p:nvPr/>
        </p:nvSpPr>
        <p:spPr>
          <a:xfrm>
            <a:off x="3879300" y="3199113"/>
            <a:ext cx="1385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publishRegistro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 txBox="1"/>
          <p:nvPr/>
        </p:nvSpPr>
        <p:spPr>
          <a:xfrm>
            <a:off x="2343388" y="2423700"/>
            <a:ext cx="855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setupWifi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1875038" y="2964613"/>
            <a:ext cx="63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Claves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2294125" y="3505550"/>
            <a:ext cx="90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setupTime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3264425" y="3512775"/>
            <a:ext cx="173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getDateTimeString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p23"/>
          <p:cNvCxnSpPr>
            <a:stCxn id="197" idx="2"/>
            <a:endCxn id="200" idx="0"/>
          </p:cNvCxnSpPr>
          <p:nvPr/>
        </p:nvCxnSpPr>
        <p:spPr>
          <a:xfrm>
            <a:off x="5755763" y="3587163"/>
            <a:ext cx="0" cy="32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21" name="Google Shape;221;p23"/>
          <p:cNvCxnSpPr/>
          <p:nvPr/>
        </p:nvCxnSpPr>
        <p:spPr>
          <a:xfrm flipH="1">
            <a:off x="3891288" y="1655463"/>
            <a:ext cx="1171800" cy="125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CONCLUSIÓN</a:t>
            </a:r>
            <a:endParaRPr/>
          </a:p>
        </p:txBody>
      </p:sp>
      <p:sp>
        <p:nvSpPr>
          <p:cNvPr id="227" name="Google Shape;227;p2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 proyecto nos ha hecho aprender a organizarnos mejor como equipo y a ser más flexibles cuando aparecen problemas repentinos que requieren rehacer o expandir partes del proyecto que ya pensábamos que teníamos terminadas para evitar estos errores. Comunicarnos entre nosotros para compartir nuestro trabajo nos ha ayudado a encontrar nuevas alternativas a problemas que llevábamos arrastrando y evitar malentendidos para que una vez llegara el momento de juntar todo el trabajo haya terminado siendo un proyecto coherente, preciso y que haya cumplido nuestras expectativas con creces.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